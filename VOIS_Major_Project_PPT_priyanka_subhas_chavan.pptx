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6" r:id="rId10"/>
    <p:sldId id="339" r:id="rId11"/>
    <p:sldId id="340" r:id="rId12"/>
    <p:sldId id="344" r:id="rId13"/>
    <p:sldId id="345"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85" autoAdjust="0"/>
    <p:restoredTop sz="95033" autoAdjust="0"/>
  </p:normalViewPr>
  <p:slideViewPr>
    <p:cSldViewPr snapToGrid="0">
      <p:cViewPr varScale="1">
        <p:scale>
          <a:sx n="68" d="100"/>
          <a:sy n="68" d="100"/>
        </p:scale>
        <p:origin x="-508" y="-60"/>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2613348" y="3611906"/>
            <a:ext cx="4767165" cy="861497"/>
          </a:xfrm>
        </p:spPr>
        <p:txBody>
          <a:bodyPr vert="horz" lIns="91440" tIns="45720" rIns="91440" bIns="45720" rtlCol="0" anchor="t">
            <a:noAutofit/>
          </a:bodyPr>
          <a:lstStyle/>
          <a:p>
            <a:pPr algn="r"/>
            <a:r>
              <a:rPr lang="en-US" sz="2800" b="0" dirty="0" smtClean="0">
                <a:solidFill>
                  <a:schemeClr val="tx1"/>
                </a:solidFill>
              </a:rPr>
              <a:t>Priyanka </a:t>
            </a:r>
            <a:r>
              <a:rPr lang="en-US" sz="2800" b="0" dirty="0" err="1" smtClean="0">
                <a:solidFill>
                  <a:schemeClr val="tx1"/>
                </a:solidFill>
              </a:rPr>
              <a:t>S</a:t>
            </a:r>
            <a:r>
              <a:rPr lang="en-US" sz="2800" b="0" dirty="0" err="1" smtClean="0">
                <a:solidFill>
                  <a:schemeClr val="tx1"/>
                </a:solidFill>
              </a:rPr>
              <a:t>ubhas</a:t>
            </a:r>
            <a:r>
              <a:rPr lang="en-US" sz="2800" b="0" dirty="0" smtClean="0">
                <a:solidFill>
                  <a:schemeClr val="tx1"/>
                </a:solidFill>
              </a:rPr>
              <a:t> </a:t>
            </a:r>
            <a:r>
              <a:rPr lang="en-US" sz="2800" b="0" dirty="0" err="1" smtClean="0">
                <a:solidFill>
                  <a:schemeClr val="tx1"/>
                </a:solidFill>
              </a:rPr>
              <a:t>C</a:t>
            </a:r>
            <a:r>
              <a:rPr lang="en-US" sz="2800" b="0" dirty="0" err="1" smtClean="0">
                <a:solidFill>
                  <a:schemeClr val="tx1"/>
                </a:solidFill>
              </a:rPr>
              <a:t>havan</a:t>
            </a:r>
            <a:endParaRPr lang="en-US" sz="2800" b="0" dirty="0" smtClean="0">
              <a:solidFill>
                <a:schemeClr val="tx1"/>
              </a:solidFill>
            </a:endParaRPr>
          </a:p>
          <a:p>
            <a:pPr algn="r"/>
            <a:endParaRPr lang="en-IN" sz="2800"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1611425" y="2947387"/>
            <a:ext cx="8904176" cy="743448"/>
          </a:xfrm>
        </p:spPr>
        <p:txBody>
          <a:bodyPr>
            <a:normAutofit fontScale="90000"/>
          </a:bodyPr>
          <a:lstStyle/>
          <a:p>
            <a:r>
              <a:rPr lang="en-GB" sz="3200" dirty="0" smtClean="0"/>
              <a:t> </a:t>
            </a:r>
            <a:r>
              <a:rPr lang="en-US" sz="3200" b="1" dirty="0" smtClean="0"/>
              <a:t>Seasonal </a:t>
            </a:r>
            <a:r>
              <a:rPr lang="en-US" sz="3200" b="1" dirty="0" smtClean="0"/>
              <a:t>Agriculture Performance Analysis</a:t>
            </a:r>
            <a:br>
              <a:rPr lang="en-US" sz="3200" b="1" dirty="0" smtClean="0"/>
            </a:b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3140770" y="4445840"/>
            <a:ext cx="4715606" cy="369332"/>
          </a:xfrm>
          <a:prstGeom prst="rect">
            <a:avLst/>
          </a:prstGeom>
          <a:noFill/>
        </p:spPr>
        <p:txBody>
          <a:bodyPr wrap="square" rtlCol="0">
            <a:spAutoFit/>
          </a:bodyPr>
          <a:lstStyle/>
          <a:p>
            <a:r>
              <a:rPr lang="en-US" b="1" dirty="0"/>
              <a:t>AICTE </a:t>
            </a:r>
            <a:r>
              <a:rPr lang="en-US" b="1" dirty="0" smtClean="0"/>
              <a:t>id</a:t>
            </a:r>
            <a:r>
              <a:rPr lang="en-US" b="1" dirty="0" smtClean="0"/>
              <a:t>: </a:t>
            </a:r>
            <a:r>
              <a:rPr lang="en-US" b="1" dirty="0" smtClean="0"/>
              <a:t>STU6a67387ce66c31785149564</a:t>
            </a:r>
            <a:endParaRPr lang="en-US" b="1" dirty="0"/>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121124" y="2370078"/>
            <a:ext cx="6431280" cy="3607987"/>
          </a:xfrm>
        </p:spPr>
        <p:txBody>
          <a:bodyPr vert="horz" lIns="91440" tIns="45720" rIns="91440" bIns="45720" rtlCol="0" anchor="t">
            <a:normAutofit/>
          </a:bodyPr>
          <a:lstStyle/>
          <a:p>
            <a:pPr algn="just">
              <a:lnSpc>
                <a:spcPct val="150000"/>
              </a:lnSpc>
            </a:pPr>
            <a:r>
              <a:rPr lang="en-US" sz="1600" dirty="0" smtClean="0"/>
              <a:t>Agricultural activities are significantly influenced by seasonal variations in environmental conditions, farming practices, resource availability, and market conditions. These variations can lead to differences in crop yield, production, resource utilization, and economic performance across seasons. However, raw agricultural data does not clearly reveal these seasonal differences or the underlying patterns and relationships.</a:t>
            </a:r>
            <a:endParaRPr lang="en-IN" sz="16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987867" y="811674"/>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791027" y="1355719"/>
            <a:ext cx="6276109" cy="830997"/>
          </a:xfrm>
        </p:spPr>
        <p:txBody>
          <a:bodyPr>
            <a:noAutofit/>
          </a:bodyPr>
          <a:lstStyle/>
          <a:p>
            <a:pPr marL="342900" indent="-342900">
              <a:lnSpc>
                <a:spcPct val="150000"/>
              </a:lnSpc>
            </a:pPr>
            <a:r>
              <a:rPr lang="en-US" sz="1600" b="0" dirty="0" smtClean="0"/>
              <a:t>     1.Seasonal </a:t>
            </a:r>
            <a:r>
              <a:rPr lang="en-US" sz="1600" b="0" dirty="0" smtClean="0"/>
              <a:t>Agriculture Performance Analysis analyzes agricultural data to understand how farming performance changes across different </a:t>
            </a:r>
            <a:r>
              <a:rPr lang="en-US" sz="1600" b="0" dirty="0" smtClean="0"/>
              <a:t>seasons.</a:t>
            </a:r>
            <a:br>
              <a:rPr lang="en-US" sz="1600" b="0" dirty="0" smtClean="0"/>
            </a:br>
            <a:r>
              <a:rPr lang="en-US" sz="1600" b="0" dirty="0" smtClean="0"/>
              <a:t>2. </a:t>
            </a:r>
            <a:r>
              <a:rPr lang="en-US" sz="1600" b="0" dirty="0" smtClean="0"/>
              <a:t>The project studies crop yield, production, resource usage, environmental conditions, and economic performance. </a:t>
            </a:r>
            <a:r>
              <a:rPr lang="en-US" sz="1600" b="0" dirty="0" smtClean="0"/>
              <a:t/>
            </a:r>
            <a:br>
              <a:rPr lang="en-US" sz="1600" b="0" dirty="0" smtClean="0"/>
            </a:br>
            <a:r>
              <a:rPr lang="en-US" sz="1600" b="0" dirty="0" smtClean="0"/>
              <a:t>3.Factors </a:t>
            </a:r>
            <a:r>
              <a:rPr lang="en-US" sz="1600" b="0" dirty="0" smtClean="0"/>
              <a:t>such as rainfall, temperature, soil conditions, irrigation, fertilizer, and water usage are analyzed. </a:t>
            </a:r>
            <a:r>
              <a:rPr lang="en-US" sz="1600" b="0" dirty="0" smtClean="0"/>
              <a:t/>
            </a:r>
            <a:br>
              <a:rPr lang="en-US" sz="1600" b="0" dirty="0" smtClean="0"/>
            </a:br>
            <a:r>
              <a:rPr lang="en-US" sz="1600" b="0" dirty="0" smtClean="0"/>
              <a:t>4.Data </a:t>
            </a:r>
            <a:r>
              <a:rPr lang="en-US" sz="1600" b="0" dirty="0" smtClean="0"/>
              <a:t>analysis and visualization techniques are used to identify patterns, trends, and relationships. </a:t>
            </a:r>
            <a:r>
              <a:rPr lang="en-US" sz="1600" b="0" dirty="0" smtClean="0"/>
              <a:t/>
            </a:r>
            <a:br>
              <a:rPr lang="en-US" sz="1600" b="0" dirty="0" smtClean="0"/>
            </a:br>
            <a:r>
              <a:rPr lang="en-US" sz="1600" b="0" dirty="0" smtClean="0"/>
              <a:t>5.The </a:t>
            </a:r>
            <a:r>
              <a:rPr lang="en-US" sz="1600" b="0" dirty="0" smtClean="0"/>
              <a:t>project helps in comparing seasonal performance and identifying better-performing crops and farming practices</a:t>
            </a:r>
            <a:r>
              <a:rPr lang="en-US" sz="1600" b="0" dirty="0" smtClean="0"/>
              <a:t>.</a:t>
            </a:r>
            <a:br>
              <a:rPr lang="en-US" sz="1600" b="0" dirty="0" smtClean="0"/>
            </a:br>
            <a:r>
              <a:rPr lang="en-US" sz="1600" b="0" dirty="0" smtClean="0"/>
              <a:t>6.The </a:t>
            </a:r>
            <a:r>
              <a:rPr lang="en-US" sz="1600" b="0" dirty="0" smtClean="0"/>
              <a:t>analysis provides data-driven insights for better agricultural planning, resource management, and productivity. </a:t>
            </a:r>
            <a:endParaRPr lang="en-IN" sz="16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p:cNvSpPr txBox="1"/>
          <p:nvPr/>
        </p:nvSpPr>
        <p:spPr>
          <a:xfrm>
            <a:off x="1166325" y="662474"/>
            <a:ext cx="3769567" cy="523220"/>
          </a:xfrm>
          <a:prstGeom prst="rect">
            <a:avLst/>
          </a:prstGeom>
          <a:noFill/>
        </p:spPr>
        <p:txBody>
          <a:bodyPr wrap="square" rtlCol="0">
            <a:spAutoFit/>
          </a:bodyPr>
          <a:lstStyle/>
          <a:p>
            <a:r>
              <a:rPr lang="en-US" sz="2800" b="1" dirty="0" smtClean="0"/>
              <a:t>Project Description</a:t>
            </a:r>
            <a:endParaRPr lang="en-US" sz="2800" b="1" dirty="0"/>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50000"/>
              </a:lnSpc>
            </a:pPr>
            <a:r>
              <a:rPr lang="en-US" sz="3600" b="1" dirty="0" smtClean="0"/>
              <a:t>Farmers</a:t>
            </a:r>
            <a:r>
              <a:rPr lang="en-US" sz="3600" dirty="0" smtClean="0"/>
              <a:t> – To understand seasonal crop performance and improve farming decisions</a:t>
            </a:r>
            <a:r>
              <a:rPr lang="en-US" sz="3600" dirty="0" smtClean="0"/>
              <a:t>.</a:t>
            </a:r>
          </a:p>
          <a:p>
            <a:pPr algn="just">
              <a:lnSpc>
                <a:spcPct val="150000"/>
              </a:lnSpc>
            </a:pPr>
            <a:r>
              <a:rPr lang="en-US" sz="3600" dirty="0" smtClean="0"/>
              <a:t> </a:t>
            </a:r>
            <a:r>
              <a:rPr lang="en-US" sz="3600" b="1" dirty="0" smtClean="0"/>
              <a:t>Agricultural Planners</a:t>
            </a:r>
            <a:r>
              <a:rPr lang="en-US" sz="3600" dirty="0" smtClean="0"/>
              <a:t> – To plan crops and resources based on seasonal trends. </a:t>
            </a:r>
            <a:endParaRPr lang="en-US" sz="3600" dirty="0" smtClean="0"/>
          </a:p>
          <a:p>
            <a:pPr algn="just">
              <a:lnSpc>
                <a:spcPct val="150000"/>
              </a:lnSpc>
            </a:pPr>
            <a:r>
              <a:rPr lang="en-US" sz="3600" b="1" dirty="0" smtClean="0"/>
              <a:t>Agricultural </a:t>
            </a:r>
            <a:r>
              <a:rPr lang="en-US" sz="3600" b="1" dirty="0" smtClean="0"/>
              <a:t>Researchers</a:t>
            </a:r>
            <a:r>
              <a:rPr lang="en-US" sz="3600" dirty="0" smtClean="0"/>
              <a:t> – To study relationships between environmental factors and crop performance. </a:t>
            </a:r>
            <a:endParaRPr lang="en-US" sz="3600" dirty="0" smtClean="0"/>
          </a:p>
          <a:p>
            <a:pPr algn="just">
              <a:lnSpc>
                <a:spcPct val="150000"/>
              </a:lnSpc>
            </a:pPr>
            <a:r>
              <a:rPr lang="en-US" sz="3600" b="1" dirty="0" smtClean="0"/>
              <a:t>Government </a:t>
            </a:r>
            <a:r>
              <a:rPr lang="en-US" sz="3600" b="1" dirty="0" smtClean="0"/>
              <a:t>&amp; Policy Makers</a:t>
            </a:r>
            <a:r>
              <a:rPr lang="en-US" sz="3600" dirty="0" smtClean="0"/>
              <a:t> – To support data-driven agricultural planning and policies. </a:t>
            </a:r>
            <a:endParaRPr lang="en-US" sz="3600" dirty="0" smtClean="0"/>
          </a:p>
          <a:p>
            <a:pPr algn="just">
              <a:lnSpc>
                <a:spcPct val="150000"/>
              </a:lnSpc>
            </a:pPr>
            <a:r>
              <a:rPr lang="en-US" sz="3600" b="1" dirty="0" smtClean="0"/>
              <a:t>Agribusinesses</a:t>
            </a:r>
            <a:r>
              <a:rPr lang="en-US" sz="3600" dirty="0" smtClean="0"/>
              <a:t> </a:t>
            </a:r>
            <a:r>
              <a:rPr lang="en-US" sz="3600" dirty="0" smtClean="0"/>
              <a:t>– To analyze production, market, and profitability trends.</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983902" y="1016576"/>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137067" y="602135"/>
            <a:ext cx="9027702" cy="5243448"/>
          </a:xfrm>
        </p:spPr>
        <p:txBody>
          <a:bodyPr/>
          <a:lstStyle/>
          <a:p>
            <a:pPr>
              <a:buNone/>
            </a:pPr>
            <a:endParaRPr lang="en-US" b="1" dirty="0" smtClean="0"/>
          </a:p>
          <a:p>
            <a:r>
              <a:rPr lang="en-US" b="1" dirty="0" smtClean="0"/>
              <a:t>Python</a:t>
            </a:r>
            <a:r>
              <a:rPr lang="en-US" dirty="0" smtClean="0"/>
              <a:t> – Main programming language for data analysis</a:t>
            </a:r>
          </a:p>
          <a:p>
            <a:r>
              <a:rPr lang="en-US" b="1" dirty="0" smtClean="0"/>
              <a:t>Pandas</a:t>
            </a:r>
            <a:r>
              <a:rPr lang="en-US" dirty="0" smtClean="0"/>
              <a:t> – Data cleaning, manipulation, and analysis</a:t>
            </a:r>
          </a:p>
          <a:p>
            <a:r>
              <a:rPr lang="en-US" b="1" dirty="0" err="1" smtClean="0"/>
              <a:t>NumPy</a:t>
            </a:r>
            <a:r>
              <a:rPr lang="en-US" dirty="0" smtClean="0"/>
              <a:t> – Numerical calculations</a:t>
            </a:r>
          </a:p>
          <a:p>
            <a:r>
              <a:rPr lang="en-US" b="1" dirty="0" err="1" smtClean="0"/>
              <a:t>Matplotlib</a:t>
            </a:r>
            <a:r>
              <a:rPr lang="en-US" dirty="0" smtClean="0"/>
              <a:t> – Data visualization</a:t>
            </a:r>
          </a:p>
          <a:p>
            <a:r>
              <a:rPr lang="en-US" b="1" dirty="0" err="1" smtClean="0"/>
              <a:t>Seaborn</a:t>
            </a:r>
            <a:r>
              <a:rPr lang="en-US" dirty="0" smtClean="0"/>
              <a:t> – Statistical charts and visualizations</a:t>
            </a:r>
          </a:p>
          <a:p>
            <a:r>
              <a:rPr lang="en-US" b="1" dirty="0" err="1" smtClean="0"/>
              <a:t>Jupyter</a:t>
            </a:r>
            <a:r>
              <a:rPr lang="en-US" b="1" dirty="0" smtClean="0"/>
              <a:t> Notebook</a:t>
            </a:r>
            <a:r>
              <a:rPr lang="en-US" dirty="0" smtClean="0"/>
              <a:t> – Development and presentation of analysis</a:t>
            </a:r>
          </a:p>
          <a:p>
            <a:r>
              <a:rPr lang="en-US" b="1" dirty="0" smtClean="0"/>
              <a:t>CSV Dataset</a:t>
            </a:r>
            <a:r>
              <a:rPr lang="en-US" dirty="0" smtClean="0"/>
              <a:t> –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1061615" y="271946"/>
            <a:ext cx="5306291" cy="847817"/>
          </a:xfrm>
        </p:spPr>
        <p:txBody>
          <a:bodyPr>
            <a:normAutofit/>
          </a:bodyPr>
          <a:lstStyle/>
          <a:p>
            <a:r>
              <a:rPr lang="en-US" dirty="0"/>
              <a:t>Technology Used</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5122" name="Picture 2"/>
          <p:cNvPicPr>
            <a:picLocks noChangeAspect="1" noChangeArrowheads="1"/>
          </p:cNvPicPr>
          <p:nvPr/>
        </p:nvPicPr>
        <p:blipFill>
          <a:blip r:embed="rId3"/>
          <a:srcRect/>
          <a:stretch>
            <a:fillRect/>
          </a:stretch>
        </p:blipFill>
        <p:spPr bwMode="auto">
          <a:xfrm>
            <a:off x="290254" y="1392594"/>
            <a:ext cx="9115003" cy="4634982"/>
          </a:xfrm>
          <a:prstGeom prst="rect">
            <a:avLst/>
          </a:prstGeom>
          <a:noFill/>
          <a:ln w="9525">
            <a:noFill/>
            <a:miter lim="800000"/>
            <a:headEnd/>
            <a:tailEnd/>
          </a:ln>
          <a:effectLst/>
        </p:spPr>
      </p:pic>
    </p:spTree>
    <p:extLst>
      <p:ext uri="{BB962C8B-B14F-4D97-AF65-F5344CB8AC3E}">
        <p14:creationId xmlns:p14="http://schemas.microsoft.com/office/powerpoint/2010/main" xmlns=""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p:cNvPicPr>
            <a:picLocks noChangeAspect="1" noChangeArrowheads="1"/>
          </p:cNvPicPr>
          <p:nvPr/>
        </p:nvPicPr>
        <p:blipFill>
          <a:blip r:embed="rId3"/>
          <a:srcRect/>
          <a:stretch>
            <a:fillRect/>
          </a:stretch>
        </p:blipFill>
        <p:spPr bwMode="auto">
          <a:xfrm>
            <a:off x="771558" y="1649704"/>
            <a:ext cx="8058150" cy="3987800"/>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050" name="Picture 2" descr="C:\Users\priyanka s c\Pictures\Screenshots\Screenshot 2026-09-09 214417.png"/>
          <p:cNvPicPr>
            <a:picLocks noChangeAspect="1" noChangeArrowheads="1"/>
          </p:cNvPicPr>
          <p:nvPr/>
        </p:nvPicPr>
        <p:blipFill>
          <a:blip r:embed="rId3"/>
          <a:srcRect/>
          <a:stretch>
            <a:fillRect/>
          </a:stretch>
        </p:blipFill>
        <p:spPr bwMode="auto">
          <a:xfrm>
            <a:off x="643812" y="1362270"/>
            <a:ext cx="5256503" cy="4300310"/>
          </a:xfrm>
          <a:prstGeom prst="rect">
            <a:avLst/>
          </a:prstGeom>
          <a:noFill/>
        </p:spPr>
      </p:pic>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074" name="Picture 2" descr="C:\Users\priyanka s c\Pictures\Screenshots\Screenshot 2026-08-30 212752.png"/>
          <p:cNvPicPr>
            <a:picLocks noChangeAspect="1" noChangeArrowheads="1"/>
          </p:cNvPicPr>
          <p:nvPr/>
        </p:nvPicPr>
        <p:blipFill>
          <a:blip r:embed="rId3"/>
          <a:srcRect/>
          <a:stretch>
            <a:fillRect/>
          </a:stretch>
        </p:blipFill>
        <p:spPr bwMode="auto">
          <a:xfrm>
            <a:off x="510074" y="1392141"/>
            <a:ext cx="5181600" cy="4540250"/>
          </a:xfrm>
          <a:prstGeom prst="rect">
            <a:avLst/>
          </a:prstGeom>
          <a:noFill/>
        </p:spPr>
      </p:pic>
    </p:spTree>
    <p:extLst>
      <p:ext uri="{BB962C8B-B14F-4D97-AF65-F5344CB8AC3E}">
        <p14:creationId xmlns:p14="http://schemas.microsoft.com/office/powerpoint/2010/main" xmlns=""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4098" name="Picture 2"/>
          <p:cNvPicPr>
            <a:picLocks noChangeAspect="1" noChangeArrowheads="1"/>
          </p:cNvPicPr>
          <p:nvPr/>
        </p:nvPicPr>
        <p:blipFill>
          <a:blip r:embed="rId3"/>
          <a:srcRect/>
          <a:stretch>
            <a:fillRect/>
          </a:stretch>
        </p:blipFill>
        <p:spPr bwMode="auto">
          <a:xfrm>
            <a:off x="397880" y="1312441"/>
            <a:ext cx="8867418" cy="4621828"/>
          </a:xfrm>
          <a:prstGeom prst="rect">
            <a:avLst/>
          </a:prstGeom>
          <a:noFill/>
          <a:ln w="9525">
            <a:noFill/>
            <a:miter lim="800000"/>
            <a:headEnd/>
            <a:tailEnd/>
          </a:ln>
          <a:effectLst/>
        </p:spPr>
      </p:pic>
    </p:spTree>
    <p:extLst>
      <p:ext uri="{BB962C8B-B14F-4D97-AF65-F5344CB8AC3E}">
        <p14:creationId xmlns:p14="http://schemas.microsoft.com/office/powerpoint/2010/main" xmlns=""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741271" y="57586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241" name="Rectangle 1"/>
          <p:cNvSpPr>
            <a:spLocks noChangeArrowheads="1"/>
          </p:cNvSpPr>
          <p:nvPr/>
        </p:nvSpPr>
        <p:spPr bwMode="auto">
          <a:xfrm>
            <a:off x="559837" y="1073020"/>
            <a:ext cx="8976049" cy="41088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endParaRPr kumimoji="0" lang="en-US" sz="1800" b="1" i="0" u="none" strike="noStrike" cap="none" normalizeH="0" baseline="0" dirty="0" smtClean="0">
              <a:ln>
                <a:noFill/>
              </a:ln>
              <a:solidFill>
                <a:schemeClr val="tx1"/>
              </a:solidFill>
              <a:effectLst/>
              <a:latin typeface="Arial" charset="0"/>
              <a:cs typeface="Arial" charset="0"/>
            </a:endParaRPr>
          </a:p>
          <a:p>
            <a:pPr marL="0" marR="0" lvl="0" indent="0" defTabSz="914400" rtl="0" eaLnBrk="1" fontAlgn="base" latinLnBrk="0" hangingPunct="1">
              <a:lnSpc>
                <a:spcPct val="150000"/>
              </a:lnSpc>
              <a:spcBef>
                <a:spcPct val="0"/>
              </a:spcBef>
              <a:spcAft>
                <a:spcPct val="0"/>
              </a:spcAft>
              <a:buClrTx/>
              <a:buSzTx/>
              <a:buFontTx/>
              <a:buChar char="•"/>
              <a:tabLst/>
            </a:pPr>
            <a:endParaRPr lang="en-US" b="1" dirty="0" smtClean="0">
              <a:latin typeface="Arial" charset="0"/>
              <a:cs typeface="Arial" charset="0"/>
            </a:endParaRPr>
          </a:p>
          <a:p>
            <a:pPr marL="0" marR="0" lvl="0" indent="0" defTabSz="914400" rtl="0" eaLnBrk="1" fontAlgn="base" latinLnBrk="0" hangingPunct="1">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Predictive Analysis</a:t>
            </a:r>
            <a:r>
              <a:rPr kumimoji="0" lang="en-US" sz="1800" b="0" i="0" u="none" strike="noStrike" cap="none" normalizeH="0" baseline="0" dirty="0" smtClean="0">
                <a:ln>
                  <a:noFill/>
                </a:ln>
                <a:solidFill>
                  <a:schemeClr val="tx1"/>
                </a:solidFill>
                <a:effectLst/>
                <a:latin typeface="Trebuchet MS (Headings)"/>
                <a:cs typeface="Arial" charset="0"/>
              </a:rPr>
              <a:t> – Predict crop yield and agricultural performance for future seasons.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Machine Learning</a:t>
            </a:r>
            <a:r>
              <a:rPr kumimoji="0" lang="en-US" sz="1800" b="0" i="0" u="none" strike="noStrike" cap="none" normalizeH="0" baseline="0" dirty="0" smtClean="0">
                <a:ln>
                  <a:noFill/>
                </a:ln>
                <a:solidFill>
                  <a:schemeClr val="tx1"/>
                </a:solidFill>
                <a:effectLst/>
                <a:latin typeface="Trebuchet MS (Headings)"/>
                <a:cs typeface="Arial" charset="0"/>
              </a:rPr>
              <a:t> – Develop models to predict yield, profit, and disease/pest risk.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Real-Time Data</a:t>
            </a:r>
            <a:r>
              <a:rPr kumimoji="0" lang="en-US" sz="1800" b="0" i="0" u="none" strike="noStrike" cap="none" normalizeH="0" baseline="0" dirty="0" smtClean="0">
                <a:ln>
                  <a:noFill/>
                </a:ln>
                <a:solidFill>
                  <a:schemeClr val="tx1"/>
                </a:solidFill>
                <a:effectLst/>
                <a:latin typeface="Trebuchet MS (Headings)"/>
                <a:cs typeface="Arial" charset="0"/>
              </a:rPr>
              <a:t> – Integrate live weather and environmental data for better analysis.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Smart Farming</a:t>
            </a:r>
            <a:r>
              <a:rPr kumimoji="0" lang="en-US" sz="1800" b="0" i="0" u="none" strike="noStrike" cap="none" normalizeH="0" baseline="0" dirty="0" smtClean="0">
                <a:ln>
                  <a:noFill/>
                </a:ln>
                <a:solidFill>
                  <a:schemeClr val="tx1"/>
                </a:solidFill>
                <a:effectLst/>
                <a:latin typeface="Trebuchet MS (Headings)"/>
                <a:cs typeface="Arial" charset="0"/>
              </a:rPr>
              <a:t> – Support intelligent irrigation, fertilizer, and resource management.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Regional Analysis</a:t>
            </a:r>
            <a:r>
              <a:rPr kumimoji="0" lang="en-US" sz="1800" b="0" i="0" u="none" strike="noStrike" cap="none" normalizeH="0" baseline="0" dirty="0" smtClean="0">
                <a:ln>
                  <a:noFill/>
                </a:ln>
                <a:solidFill>
                  <a:schemeClr val="tx1"/>
                </a:solidFill>
                <a:effectLst/>
                <a:latin typeface="Trebuchet MS (Headings)"/>
                <a:cs typeface="Arial" charset="0"/>
              </a:rPr>
              <a:t> – Expand the analysis to more states, districts, and crops.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rebuchet MS (Headings)"/>
                <a:cs typeface="Arial" charset="0"/>
              </a:rPr>
              <a:t>Decision Support System</a:t>
            </a:r>
            <a:r>
              <a:rPr kumimoji="0" lang="en-US" sz="1800" b="0" i="0" u="none" strike="noStrike" cap="none" normalizeH="0" baseline="0" dirty="0" smtClean="0">
                <a:ln>
                  <a:noFill/>
                </a:ln>
                <a:solidFill>
                  <a:schemeClr val="tx1"/>
                </a:solidFill>
                <a:effectLst/>
                <a:latin typeface="Trebuchet MS (Headings)"/>
                <a:cs typeface="Arial" charset="0"/>
              </a:rPr>
              <a:t> – Develop a system that provides recommendations to farmers based on seasonal conditions. </a:t>
            </a: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smtClean="0"/>
              <a:t>https://github.com/Priyank1605/Seasonal-Agriculture-Performance-Analysis</a:t>
            </a:r>
            <a:endParaRPr lang="en-US" dirty="0"/>
          </a:p>
        </p:txBody>
      </p:sp>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3" name="Picture 1"/>
          <p:cNvPicPr>
            <a:picLocks noChangeAspect="1" noChangeArrowheads="1"/>
          </p:cNvPicPr>
          <p:nvPr/>
        </p:nvPicPr>
        <p:blipFill>
          <a:blip r:embed="rId3"/>
          <a:srcRect/>
          <a:stretch>
            <a:fillRect/>
          </a:stretch>
        </p:blipFill>
        <p:spPr bwMode="auto">
          <a:xfrm>
            <a:off x="1604704" y="1632663"/>
            <a:ext cx="6447614" cy="4133656"/>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1505</TotalTime>
  <Words>338</Words>
  <Application>Microsoft Office PowerPoint</Application>
  <PresentationFormat>Custom</PresentationFormat>
  <Paragraphs>45</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 Seasonal Agriculture Performance Analysis </vt:lpstr>
      <vt:lpstr>PROBLEM  STATEMENT</vt:lpstr>
      <vt:lpstr>     1.Seasonal Agriculture Performance Analysis analyzes agricultural data to understand how farming performance changes across different seasons. 2. The project studies crop yield, production, resource usage, environmental conditions, and economic performance.  3.Factors such as rainfall, temperature, soil conditions, irrigation, fertilizer, and water usage are analyzed.  4.Data analysis and visualization techniques are used to identify patterns, trends, and relationships.  5.The project helps in comparing seasonal performance and identifying better-performing crops and farming practices. 6.The analysis provides data-driven insights for better agricultural planning, resource management, and productivity.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priyanka s c</cp:lastModifiedBy>
  <cp:revision>112</cp:revision>
  <dcterms:created xsi:type="dcterms:W3CDTF">2021-07-11T13:13:15Z</dcterms:created>
  <dcterms:modified xsi:type="dcterms:W3CDTF">2026-09-09T17:59:39Z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